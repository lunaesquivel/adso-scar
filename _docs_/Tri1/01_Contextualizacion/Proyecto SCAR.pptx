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embeddedFontLst>
    <p:embeddedFont>
      <p:font typeface="Work Sans" pitchFamily="2" charset="0"/>
      <p:regular r:id="rId18"/>
      <p:bold r:id="rId19"/>
      <p:italic r:id="rId20"/>
      <p:boldItalic r:id="rId21"/>
    </p:embeddedFont>
    <p:embeddedFont>
      <p:font typeface="Work Sans Light" pitchFamily="2" charset="0"/>
      <p:regular r:id="rId22"/>
      <p:bold r:id="rId23"/>
      <p:italic r:id="rId24"/>
      <p:boldItalic r:id="rId25"/>
    </p:embeddedFont>
    <p:embeddedFont>
      <p:font typeface="Work Sans Medium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gHHOthGsCQsw1hm5kmT3i2eOdc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3" name="Google Shape;1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1" name="Google Shape;1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0" name="Google Shape;19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0" name="Google Shape;2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9" name="Google Shape;20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C0F95291-19C1-C280-39CE-97AA866C2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>
            <a:extLst>
              <a:ext uri="{FF2B5EF4-FFF2-40B4-BE49-F238E27FC236}">
                <a16:creationId xmlns:a16="http://schemas.microsoft.com/office/drawing/2014/main" id="{584028F5-F770-DF2C-70BF-78D70670E0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9" name="Google Shape;209;p14:notes">
            <a:extLst>
              <a:ext uri="{FF2B5EF4-FFF2-40B4-BE49-F238E27FC236}">
                <a16:creationId xmlns:a16="http://schemas.microsoft.com/office/drawing/2014/main" id="{1B0FEFF0-2761-2437-F8D6-1596168C4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69069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7" name="Google Shape;21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7" descr="Interfaz de usuario gráfica, Texto, Aplicación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27833" y="317431"/>
            <a:ext cx="811391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cabezado de sección">
  <p:cSld name="2_Encabezado de sección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9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1" name="Google Shape;4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2" name="Google Shape;4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4" name="Google Shape;5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5" name="Google Shape;5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8" name="Google Shape;6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9" name="Google Shape;6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5" name="Google Shape;7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8" name="Google Shape;8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9" name="Google Shape;8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4" name="Google Shape;9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5" name="Google Shape;9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jpg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hyperlink" Target="https://github.com/SeumyYozuki/ADSO_SCAR/blob/281f2bf4e397f9423eaa84425e93b316e70307c4/_docs_/Tri1/01_Contextualizacion/Gantt_SCAR%20(Borrador).pdf" TargetMode="Externa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hyperlink" Target="https://github.com/SeumyYozuki/ADSO_SCAR.git" TargetMode="Externa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/>
        </p:nvSpPr>
        <p:spPr>
          <a:xfrm>
            <a:off x="335297" y="2551837"/>
            <a:ext cx="64536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1" i="0" u="none" strike="noStrike" cap="none" dirty="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PROYECTO SCAR</a:t>
            </a:r>
            <a:endParaRPr sz="4600" b="1" i="0" u="none" strike="noStrike" cap="none" dirty="0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6498775" y="2451025"/>
            <a:ext cx="2001600" cy="2145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Logo Sistema</a:t>
            </a:r>
            <a:endParaRPr sz="16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500325" y="2451025"/>
            <a:ext cx="2001600" cy="2145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Logo Empresa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" title="Logo empresa.png"/>
          <p:cNvPicPr preferRelativeResize="0"/>
          <p:nvPr/>
        </p:nvPicPr>
        <p:blipFill rotWithShape="1">
          <a:blip r:embed="rId3">
            <a:alphaModFix/>
          </a:blip>
          <a:srcRect l="6454" r="6445"/>
          <a:stretch/>
        </p:blipFill>
        <p:spPr>
          <a:xfrm>
            <a:off x="6585150" y="2594344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 title="459247893_524944660220797_6193386177086351401_n.jpg"/>
          <p:cNvPicPr preferRelativeResize="0"/>
          <p:nvPr/>
        </p:nvPicPr>
        <p:blipFill rotWithShape="1">
          <a:blip r:embed="rId4">
            <a:alphaModFix/>
          </a:blip>
          <a:srcRect l="7453" r="7462"/>
          <a:stretch/>
        </p:blipFill>
        <p:spPr>
          <a:xfrm>
            <a:off x="8586750" y="2607187"/>
            <a:ext cx="18288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/>
        </p:nvSpPr>
        <p:spPr>
          <a:xfrm>
            <a:off x="3252112" y="675443"/>
            <a:ext cx="56877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MX" sz="7200" b="0" i="0" u="none" strike="noStrike" cap="none" dirty="0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PROYECTO</a:t>
            </a:r>
            <a:endParaRPr sz="7200" b="0" i="0" u="none" strike="noStrike" cap="none" dirty="0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MX" sz="7200" b="0" i="0" u="none" strike="noStrike" cap="none" dirty="0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SCAR</a:t>
            </a:r>
            <a:endParaRPr sz="7200" b="0" i="0" u="none" strike="noStrike" cap="none" dirty="0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cxnSp>
        <p:nvCxnSpPr>
          <p:cNvPr id="111" name="Google Shape;111;p2"/>
          <p:cNvCxnSpPr/>
          <p:nvPr/>
        </p:nvCxnSpPr>
        <p:spPr>
          <a:xfrm>
            <a:off x="5227899" y="3321934"/>
            <a:ext cx="1736203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2" name="Google Shape;112;p2"/>
          <p:cNvSpPr txBox="1"/>
          <p:nvPr/>
        </p:nvSpPr>
        <p:spPr>
          <a:xfrm>
            <a:off x="4168816" y="3463724"/>
            <a:ext cx="3854368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 dirty="0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Delgado Lozano María Fernanda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 dirty="0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Esquivel Oliveros Luna Katerin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 dirty="0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Leiva Tapiero Jaiver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 dirty="0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Reyes Carvajal Jefersson Andrés</a:t>
            </a:r>
            <a:endParaRPr sz="1600" b="0" i="0" u="none" strike="noStrike" cap="none" dirty="0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068888" y="5279998"/>
            <a:ext cx="1005422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Servicio Nacional de Aprendizaje –SENA, Centro de Electricidad Electrónica y Telecomunicaciones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Tecnólogo en Análisis y Desarrollo de Software - ADSO, Primer Trimestre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Instructor Albeiro Ramos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Bogotá, abril de 2026</a:t>
            </a:r>
            <a:endParaRPr sz="1600" b="1" i="0" u="none" strike="noStrike" cap="none" dirty="0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sz="4400" b="0" i="0" u="none" strike="noStrike" cap="none" dirty="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Proyecto SCAR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6676276" y="2065895"/>
            <a:ext cx="51180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MX" sz="3200" b="1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Introducción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MX" sz="3200" b="1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Problema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MX" sz="3200" b="1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MX" sz="3200" b="1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Justificación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MX" sz="3200" b="1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Alcance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MX" sz="3200" b="1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Delimitación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4" title="Logo empresa.png"/>
          <p:cNvPicPr preferRelativeResize="0"/>
          <p:nvPr/>
        </p:nvPicPr>
        <p:blipFill rotWithShape="1">
          <a:blip r:embed="rId4">
            <a:alphaModFix/>
          </a:blip>
          <a:srcRect t="2821" b="2821"/>
          <a:stretch/>
        </p:blipFill>
        <p:spPr>
          <a:xfrm>
            <a:off x="479472" y="1463022"/>
            <a:ext cx="3010508" cy="281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4" title="459247893_524944660220797_6193386177086351401_n.jpg"/>
          <p:cNvPicPr preferRelativeResize="0"/>
          <p:nvPr/>
        </p:nvPicPr>
        <p:blipFill rotWithShape="1">
          <a:blip r:embed="rId5">
            <a:alphaModFix/>
          </a:blip>
          <a:srcRect l="2822" r="2812"/>
          <a:stretch/>
        </p:blipFill>
        <p:spPr>
          <a:xfrm>
            <a:off x="3513220" y="3741310"/>
            <a:ext cx="2826075" cy="281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449742" y="552151"/>
            <a:ext cx="3387471" cy="80311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634295" y="469699"/>
            <a:ext cx="4933748" cy="6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 Light"/>
              <a:buNone/>
            </a:pPr>
            <a:r>
              <a:rPr lang="es-MX" sz="6000" b="0" i="0" u="none" strike="noStrike" cap="none" dirty="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Introducción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242592" y="1666875"/>
            <a:ext cx="7235893" cy="444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Dulce Dip es una empresa artesanal de queso crema a base de frutas liderado por Doña Neila Bello, quien actúa como representante legal y única encargada de la producción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Work Sans"/>
                <a:ea typeface="Work Sans Light"/>
                <a:cs typeface="Work Sans Light"/>
                <a:sym typeface="Work Sans"/>
              </a:rPr>
              <a:t>Actualmente, la gestión de la información presenta retos significativos debido a la total dependencia de registros manuales en cuadernos y la dispersión de pedidos en chats de WhatsApp.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Work Sans"/>
                <a:ea typeface="Work Sans Light"/>
                <a:cs typeface="Work Sans Light"/>
                <a:sym typeface="Work Sans"/>
              </a:rPr>
              <a:t>El sistema SCAR surge para centralizar y digitalizar el control de ventas, inventarios y producción </a:t>
            </a:r>
            <a:r>
              <a:rPr lang="es-MX" sz="2000" dirty="0">
                <a:solidFill>
                  <a:schemeClr val="dk1"/>
                </a:solidFill>
                <a:latin typeface="Work Sans"/>
                <a:ea typeface="Work Sans Light"/>
                <a:cs typeface="Work Sans Light"/>
                <a:sym typeface="Work Sans"/>
              </a:rPr>
              <a:t>optimizando el tiempo de la propietaria.</a:t>
            </a:r>
            <a:endParaRPr sz="16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912829C-F2E2-18AD-C90F-68C026C6A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6554" y="1773268"/>
            <a:ext cx="3940903" cy="393816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dirty="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Problema</a:t>
            </a:r>
            <a:endParaRPr dirty="0"/>
          </a:p>
        </p:txBody>
      </p:sp>
      <p:sp>
        <p:nvSpPr>
          <p:cNvPr id="134" name="Google Shape;134;p5"/>
          <p:cNvSpPr txBox="1"/>
          <p:nvPr/>
        </p:nvSpPr>
        <p:spPr>
          <a:xfrm>
            <a:off x="212513" y="1867209"/>
            <a:ext cx="7995316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8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Existe una dependencia crítica de anotaciones físicas para el seguimiento de ventas en ferias, lo que genera vulnerabilidades ante la pérdida de información.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CO" sz="28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800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Los pedidos y el historial de clientes se encuentran dispersos en WhatsApp, sin protocolos de seguridad, lo que facilita eliminaciones accidentales de datos de contacto o pedidos.</a:t>
            </a:r>
            <a:endParaRPr lang="es-CO" sz="28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35" name="Google Shape;135;p5" title="Logo empresa.png"/>
          <p:cNvPicPr preferRelativeResize="0"/>
          <p:nvPr/>
        </p:nvPicPr>
        <p:blipFill rotWithShape="1">
          <a:blip r:embed="rId3">
            <a:alphaModFix/>
          </a:blip>
          <a:srcRect t="2821" b="2821"/>
          <a:stretch/>
        </p:blipFill>
        <p:spPr>
          <a:xfrm>
            <a:off x="8644025" y="327262"/>
            <a:ext cx="1080000" cy="100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 title="459247893_524944660220797_6193386177086351401_n.jpg"/>
          <p:cNvPicPr preferRelativeResize="0"/>
          <p:nvPr/>
        </p:nvPicPr>
        <p:blipFill rotWithShape="1">
          <a:blip r:embed="rId4">
            <a:alphaModFix/>
          </a:blip>
          <a:srcRect l="971" r="971"/>
          <a:stretch/>
        </p:blipFill>
        <p:spPr>
          <a:xfrm>
            <a:off x="9724025" y="327250"/>
            <a:ext cx="1053550" cy="10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2" name="Picture 4" descr="Pérdida de datos - Iconos gratis de archivos y carpetas">
            <a:extLst>
              <a:ext uri="{FF2B5EF4-FFF2-40B4-BE49-F238E27FC236}">
                <a16:creationId xmlns:a16="http://schemas.microsoft.com/office/drawing/2014/main" id="{3415F6E9-1A6A-BC5F-DD1E-75A60268B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8264" y="2265255"/>
            <a:ext cx="3605071" cy="360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dirty="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Problema</a:t>
            </a:r>
            <a:endParaRPr dirty="0"/>
          </a:p>
        </p:txBody>
      </p:sp>
      <p:sp>
        <p:nvSpPr>
          <p:cNvPr id="144" name="Google Shape;144;p9"/>
          <p:cNvSpPr txBox="1"/>
          <p:nvPr/>
        </p:nvSpPr>
        <p:spPr>
          <a:xfrm>
            <a:off x="93011" y="1837498"/>
            <a:ext cx="1158736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s-ES" sz="2400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Doña Neila asume todos los roles (producción, ventas, contabilidad, etc.), lo que genera una saturación de tareas y lentitud en los procesos de registro.</a:t>
            </a:r>
          </a:p>
          <a:p>
            <a:pPr lvl="0">
              <a:buClr>
                <a:schemeClr val="dk1"/>
              </a:buClr>
              <a:buSzPts val="1100"/>
            </a:pPr>
            <a:endParaRPr lang="es-ES" sz="2400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s-ES" sz="2400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La ausencia de un sistema impide conocer rápidamente historial de ventas pasada o estados de inventario de materia prima de manera inmediata.</a:t>
            </a:r>
          </a:p>
        </p:txBody>
      </p:sp>
      <p:pic>
        <p:nvPicPr>
          <p:cNvPr id="145" name="Google Shape;145;p9" title="Logo empresa.png"/>
          <p:cNvPicPr preferRelativeResize="0"/>
          <p:nvPr/>
        </p:nvPicPr>
        <p:blipFill rotWithShape="1">
          <a:blip r:embed="rId3">
            <a:alphaModFix/>
          </a:blip>
          <a:srcRect t="2821" b="2821"/>
          <a:stretch/>
        </p:blipFill>
        <p:spPr>
          <a:xfrm>
            <a:off x="8644025" y="327262"/>
            <a:ext cx="1080000" cy="100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9" title="459247893_524944660220797_6193386177086351401_n.jpg"/>
          <p:cNvPicPr preferRelativeResize="0"/>
          <p:nvPr/>
        </p:nvPicPr>
        <p:blipFill rotWithShape="1">
          <a:blip r:embed="rId4">
            <a:alphaModFix/>
          </a:blip>
          <a:srcRect l="971" r="971"/>
          <a:stretch/>
        </p:blipFill>
        <p:spPr>
          <a:xfrm>
            <a:off x="9724025" y="327250"/>
            <a:ext cx="1053550" cy="10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4815" y="4085044"/>
            <a:ext cx="4822371" cy="2519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1314043" y="593940"/>
            <a:ext cx="3527266" cy="34724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1039184" y="310961"/>
            <a:ext cx="4076985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200"/>
              <a:buFont typeface="Work Sans Light"/>
              <a:buNone/>
            </a:pPr>
            <a:r>
              <a:rPr lang="es-MX" sz="3200" b="0" i="0" u="none" strike="noStrike" cap="none" dirty="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General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574056" y="1237260"/>
            <a:ext cx="65847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8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Desarrollar un Sistema de información Web  denominado SCAR que permita gestionar los pedidos, inventario, venta y control de la empresa Dulce Dip, optimizando la organización de la información y mejorando los procesos internos.</a:t>
            </a:r>
            <a:endParaRPr sz="18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84946" y="3146130"/>
            <a:ext cx="4166093" cy="34724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574055" y="2888203"/>
            <a:ext cx="4076985" cy="67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200"/>
              <a:buFont typeface="Work Sans Light"/>
              <a:buNone/>
            </a:pPr>
            <a:r>
              <a:rPr lang="es-MX" sz="3200" b="0" i="0" u="none" strike="noStrike" cap="none" dirty="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Específicos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574055" y="3766808"/>
            <a:ext cx="658470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MX" sz="18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Desarrollar el módulo de Usuarios del Sistema SCAR.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MX" sz="18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Desarrollar el módulo de </a:t>
            </a:r>
            <a:r>
              <a:rPr lang="es-MX" sz="1800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productos de inventario </a:t>
            </a:r>
            <a:r>
              <a:rPr lang="es-MX" sz="18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del Sistema SCAR.</a:t>
            </a:r>
            <a:endParaRPr sz="1800" b="0" i="0" u="none" strike="noStrike" cap="none" dirty="0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MX" sz="18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Desarrollar el módulo de ventas del Sistema SCAR.</a:t>
            </a:r>
            <a:endParaRPr sz="1800" b="0" i="0" u="none" strike="noStrike" cap="none" dirty="0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MX" sz="18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Desarrollar el módulo de reportes gráficos e impresos del Sistema SCAR.</a:t>
            </a:r>
            <a:endParaRPr sz="18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58" name="Google Shape;158;p7" title="Logo empresa.png"/>
          <p:cNvPicPr preferRelativeResize="0"/>
          <p:nvPr/>
        </p:nvPicPr>
        <p:blipFill rotWithShape="1">
          <a:blip r:embed="rId3">
            <a:alphaModFix/>
          </a:blip>
          <a:srcRect t="1635" b="1635"/>
          <a:stretch/>
        </p:blipFill>
        <p:spPr>
          <a:xfrm>
            <a:off x="8670473" y="327262"/>
            <a:ext cx="1053551" cy="1008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7" title="459247893_524944660220797_6193386177086351401_n.jpg"/>
          <p:cNvPicPr preferRelativeResize="0"/>
          <p:nvPr/>
        </p:nvPicPr>
        <p:blipFill rotWithShape="1">
          <a:blip r:embed="rId4">
            <a:alphaModFix/>
          </a:blip>
          <a:srcRect l="971" r="971"/>
          <a:stretch/>
        </p:blipFill>
        <p:spPr>
          <a:xfrm>
            <a:off x="9724025" y="327250"/>
            <a:ext cx="1053550" cy="10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85532" y="2333121"/>
            <a:ext cx="4076984" cy="3057737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3137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dirty="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Justificación</a:t>
            </a:r>
            <a:endParaRPr dirty="0"/>
          </a:p>
        </p:txBody>
      </p:sp>
      <p:sp>
        <p:nvSpPr>
          <p:cNvPr id="166" name="Google Shape;166;p11"/>
          <p:cNvSpPr txBox="1"/>
          <p:nvPr/>
        </p:nvSpPr>
        <p:spPr>
          <a:xfrm>
            <a:off x="456236" y="2154889"/>
            <a:ext cx="6671825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Se propone el desarrollo de un sistema de información web denominado SCAR, el cual funcionará como una herramienta de apoyo para la gestión de los procesos de Dulce Dip.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Este sistema permitirá migrar de un modelo de gestión basado en papel a una infraestructura digital centralizada que garantice la continuidad del negocio.</a:t>
            </a:r>
            <a:endParaRPr sz="24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67" name="Google Shape;167;p11" title="459247893_524944660220797_6193386177086351401_n.jpg"/>
          <p:cNvPicPr preferRelativeResize="0"/>
          <p:nvPr/>
        </p:nvPicPr>
        <p:blipFill rotWithShape="1">
          <a:blip r:embed="rId3">
            <a:alphaModFix/>
          </a:blip>
          <a:srcRect l="971" r="971"/>
          <a:stretch/>
        </p:blipFill>
        <p:spPr>
          <a:xfrm>
            <a:off x="9774350" y="269163"/>
            <a:ext cx="1053550" cy="10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1" title="Logo empresa.png"/>
          <p:cNvPicPr preferRelativeResize="0"/>
          <p:nvPr/>
        </p:nvPicPr>
        <p:blipFill rotWithShape="1">
          <a:blip r:embed="rId4">
            <a:alphaModFix/>
          </a:blip>
          <a:srcRect t="2821" b="2821"/>
          <a:stretch/>
        </p:blipFill>
        <p:spPr>
          <a:xfrm>
            <a:off x="8694350" y="269187"/>
            <a:ext cx="1080000" cy="100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1" descr="Icono de Mapa conceptual Flaticons Flat | Freepi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12921" y="1926288"/>
            <a:ext cx="4322858" cy="4093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dirty="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Justificación</a:t>
            </a:r>
            <a:endParaRPr dirty="0"/>
          </a:p>
        </p:txBody>
      </p:sp>
      <p:sp>
        <p:nvSpPr>
          <p:cNvPr id="175" name="Google Shape;175;p8"/>
          <p:cNvSpPr txBox="1"/>
          <p:nvPr/>
        </p:nvSpPr>
        <p:spPr>
          <a:xfrm>
            <a:off x="456236" y="1665032"/>
            <a:ext cx="7537239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Desde el punto de vista técnico, este proyecto responde a la ausencia de protocolos profesionales de respaldo, sustituyendo métodos informales como el uso de </a:t>
            </a:r>
            <a:r>
              <a:rPr lang="es-CO" sz="24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cuadernos por una base de datos robusta que garantice la disponibilidad de la información de clientes y pedidos.</a:t>
            </a:r>
            <a:endParaRPr lang="es-ES"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ES" sz="24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Esto no solo optimizará la eficiencia operativa, sino que asegura una atención integral y oportuna </a:t>
            </a:r>
            <a:r>
              <a:rPr lang="es-ES" sz="2400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que </a:t>
            </a:r>
            <a:r>
              <a:rPr lang="es-ES" sz="24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fortalecerá a la empresa y doña Neila podrá dedicar más tiempo a la producción de sabores estrella como Mango y Café. </a:t>
            </a:r>
          </a:p>
        </p:txBody>
      </p:sp>
      <p:pic>
        <p:nvPicPr>
          <p:cNvPr id="176" name="Google Shape;176;p8" title="459247893_524944660220797_6193386177086351401_n.jpg"/>
          <p:cNvPicPr preferRelativeResize="0"/>
          <p:nvPr/>
        </p:nvPicPr>
        <p:blipFill rotWithShape="1">
          <a:blip r:embed="rId3">
            <a:alphaModFix/>
          </a:blip>
          <a:srcRect l="971" r="971"/>
          <a:stretch/>
        </p:blipFill>
        <p:spPr>
          <a:xfrm>
            <a:off x="9774350" y="269163"/>
            <a:ext cx="1053550" cy="10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8" title="Logo empresa.png"/>
          <p:cNvPicPr preferRelativeResize="0"/>
          <p:nvPr/>
        </p:nvPicPr>
        <p:blipFill rotWithShape="1">
          <a:blip r:embed="rId4">
            <a:alphaModFix/>
          </a:blip>
          <a:srcRect t="2821" b="2821"/>
          <a:stretch/>
        </p:blipFill>
        <p:spPr>
          <a:xfrm>
            <a:off x="8694350" y="269187"/>
            <a:ext cx="1080000" cy="100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Me ayudas a generar un mango animado sonriente, con un frasco de queso crema en su mano, que el frasco tenga una etiqueta que diga: Queso crema de Mango, estilo animado, anime, caricatura, fondo blanco">
            <a:extLst>
              <a:ext uri="{FF2B5EF4-FFF2-40B4-BE49-F238E27FC236}">
                <a16:creationId xmlns:a16="http://schemas.microsoft.com/office/drawing/2014/main" id="{AF43DD03-908E-21B4-3CB1-74DC344CB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6353" y="1571666"/>
            <a:ext cx="2743200" cy="27432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e ayudas a generar un granito de café animado sonriente, que en su frente tenga una banda estilo ninja o karateka, con un frasco de queso crema en su mano, que el frasco tenga una etiqueta que diga: Queso crema de Café, estilo animado, anime, caricatura, fondo blanco">
            <a:extLst>
              <a:ext uri="{FF2B5EF4-FFF2-40B4-BE49-F238E27FC236}">
                <a16:creationId xmlns:a16="http://schemas.microsoft.com/office/drawing/2014/main" id="{8B4BBAA9-C7B1-8D73-5A94-00F6733F6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3738" y="4044043"/>
            <a:ext cx="2743200" cy="2743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dirty="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Alcance</a:t>
            </a:r>
            <a:endParaRPr dirty="0"/>
          </a:p>
        </p:txBody>
      </p:sp>
      <p:sp>
        <p:nvSpPr>
          <p:cNvPr id="184" name="Google Shape;184;p10"/>
          <p:cNvSpPr txBox="1"/>
          <p:nvPr/>
        </p:nvSpPr>
        <p:spPr>
          <a:xfrm>
            <a:off x="152401" y="2123033"/>
            <a:ext cx="7751593" cy="3797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SCAR comprende el diseño y desarrollo de un prototipo funcional, el cual integrará módulos para la atención de usuarios, la gestión de inventarios y el control de ventas.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sistema permitirá la centralización de la información recolectada en entrevistas y visitas, facilitando la consulta autónoma y la generación de reportes gráficos para la empresa.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10" title="Logo empresa.png"/>
          <p:cNvPicPr preferRelativeResize="0"/>
          <p:nvPr/>
        </p:nvPicPr>
        <p:blipFill rotWithShape="1">
          <a:blip r:embed="rId3">
            <a:alphaModFix/>
          </a:blip>
          <a:srcRect t="2821" b="2821"/>
          <a:stretch/>
        </p:blipFill>
        <p:spPr>
          <a:xfrm>
            <a:off x="8644025" y="327262"/>
            <a:ext cx="1080000" cy="100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0" title="459247893_524944660220797_6193386177086351401_n.jpg"/>
          <p:cNvPicPr preferRelativeResize="0"/>
          <p:nvPr/>
        </p:nvPicPr>
        <p:blipFill rotWithShape="1">
          <a:blip r:embed="rId4">
            <a:alphaModFix/>
          </a:blip>
          <a:srcRect l="971" r="971"/>
          <a:stretch/>
        </p:blipFill>
        <p:spPr>
          <a:xfrm>
            <a:off x="9724025" y="327250"/>
            <a:ext cx="1053550" cy="10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0" descr="Icono de robot Diseño de signo bot. Concepto de símbolo de chatbot.  Servicio de soporte de voz bot. Bot de soporte en línea. Vector stock de  ilustración. | Vector Premium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19338" y="2082898"/>
            <a:ext cx="3867861" cy="3867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dirty="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Alcance</a:t>
            </a:r>
            <a:endParaRPr dirty="0"/>
          </a:p>
        </p:txBody>
      </p:sp>
      <p:sp>
        <p:nvSpPr>
          <p:cNvPr id="193" name="Google Shape;193;p13"/>
          <p:cNvSpPr txBox="1"/>
          <p:nvPr/>
        </p:nvSpPr>
        <p:spPr>
          <a:xfrm>
            <a:off x="267745" y="1905501"/>
            <a:ext cx="7751593" cy="4222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aplicativo se desarrollará como una plataforma web utilizando lenguaje como JavaScript, con el soporte de una base de datos robusta en MySQL para garantizar la persistencia de la información.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desarrollo se fundamentará en los estándares de calidad de la norma ISO 25010, asegurando que el producto final cumpla con requisitos de seguridad, utilidad y mantenibilidad necesarios para el manejo de datos sensibles.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13" title="Logo empresa.png"/>
          <p:cNvPicPr preferRelativeResize="0"/>
          <p:nvPr/>
        </p:nvPicPr>
        <p:blipFill rotWithShape="1">
          <a:blip r:embed="rId3">
            <a:alphaModFix/>
          </a:blip>
          <a:srcRect t="2821" b="2821"/>
          <a:stretch/>
        </p:blipFill>
        <p:spPr>
          <a:xfrm>
            <a:off x="8644025" y="327262"/>
            <a:ext cx="1080000" cy="100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3" title="459247893_524944660220797_6193386177086351401_n.jpg"/>
          <p:cNvPicPr preferRelativeResize="0"/>
          <p:nvPr/>
        </p:nvPicPr>
        <p:blipFill rotWithShape="1">
          <a:blip r:embed="rId4">
            <a:alphaModFix/>
          </a:blip>
          <a:srcRect l="971" r="971"/>
          <a:stretch/>
        </p:blipFill>
        <p:spPr>
          <a:xfrm>
            <a:off x="9724025" y="327250"/>
            <a:ext cx="1053550" cy="10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3" descr="Heli Sulbaran: Introducción al MySQ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41110" y="1734047"/>
            <a:ext cx="2143125" cy="2143125"/>
          </a:xfrm>
          <a:prstGeom prst="ellipse">
            <a:avLst/>
          </a:prstGeom>
          <a:noFill/>
          <a:ln w="63500" cap="rnd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  <p:pic>
        <p:nvPicPr>
          <p:cNvPr id="197" name="Google Shape;197;p13" descr="JavaScript - Wikipedia, la enciclopedia libr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81130" y="4016828"/>
            <a:ext cx="2143125" cy="2143125"/>
          </a:xfrm>
          <a:prstGeom prst="ellipse">
            <a:avLst/>
          </a:prstGeom>
          <a:noFill/>
          <a:ln w="63500" cap="rnd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dirty="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Delimitación</a:t>
            </a:r>
            <a:endParaRPr dirty="0"/>
          </a:p>
        </p:txBody>
      </p:sp>
      <p:sp>
        <p:nvSpPr>
          <p:cNvPr id="203" name="Google Shape;203;p12"/>
          <p:cNvSpPr txBox="1"/>
          <p:nvPr/>
        </p:nvSpPr>
        <p:spPr>
          <a:xfrm>
            <a:off x="272450" y="2466918"/>
            <a:ext cx="73356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SCAR se desarrollará bajo un cronograma estructurado en el Modelo Gantt, abarcando desde la fase de análisis hasta la entrega de un prototipo funcional en quinto trimestre.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Esta delimitación temporal permite asegurar el cumplimiento de </a:t>
            </a:r>
            <a:r>
              <a:rPr lang="es-MX" sz="2000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otros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críticos como el levantamiento de requisitos y el diseño de la arquitectura de la base de datos en los plazos establecidos por el tecnólogo (ADSO).</a:t>
            </a:r>
            <a:endParaRPr sz="20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204" name="Google Shape;204;p12" title="459247893_524944660220797_6193386177086351401_n.jpg"/>
          <p:cNvPicPr preferRelativeResize="0"/>
          <p:nvPr/>
        </p:nvPicPr>
        <p:blipFill rotWithShape="1">
          <a:blip r:embed="rId3">
            <a:alphaModFix/>
          </a:blip>
          <a:srcRect l="971" r="971"/>
          <a:stretch/>
        </p:blipFill>
        <p:spPr>
          <a:xfrm>
            <a:off x="9724025" y="327250"/>
            <a:ext cx="1053550" cy="10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2" title="Logo empresa.png"/>
          <p:cNvPicPr preferRelativeResize="0"/>
          <p:nvPr/>
        </p:nvPicPr>
        <p:blipFill rotWithShape="1">
          <a:blip r:embed="rId4">
            <a:alphaModFix/>
          </a:blip>
          <a:srcRect t="2821" b="2821"/>
          <a:stretch/>
        </p:blipFill>
        <p:spPr>
          <a:xfrm>
            <a:off x="8644025" y="327262"/>
            <a:ext cx="1080000" cy="100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2" descr="Icono de Cronograma Generic color fill | Freepi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88085" y="2140048"/>
            <a:ext cx="3531410" cy="3531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dirty="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Delimitación</a:t>
            </a:r>
            <a:endParaRPr dirty="0"/>
          </a:p>
        </p:txBody>
      </p:sp>
      <p:pic>
        <p:nvPicPr>
          <p:cNvPr id="212" name="Google Shape;212;p14" title="459247893_524944660220797_6193386177086351401_n.jpg"/>
          <p:cNvPicPr preferRelativeResize="0"/>
          <p:nvPr/>
        </p:nvPicPr>
        <p:blipFill rotWithShape="1">
          <a:blip r:embed="rId3">
            <a:alphaModFix/>
          </a:blip>
          <a:srcRect l="971" r="971"/>
          <a:stretch/>
        </p:blipFill>
        <p:spPr>
          <a:xfrm>
            <a:off x="9724025" y="327250"/>
            <a:ext cx="1053550" cy="10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4" title="Logo empresa.png"/>
          <p:cNvPicPr preferRelativeResize="0"/>
          <p:nvPr/>
        </p:nvPicPr>
        <p:blipFill rotWithShape="1">
          <a:blip r:embed="rId4">
            <a:alphaModFix/>
          </a:blip>
          <a:srcRect t="2821" b="2821"/>
          <a:stretch/>
        </p:blipFill>
        <p:spPr>
          <a:xfrm>
            <a:off x="8644025" y="327262"/>
            <a:ext cx="1080000" cy="100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4" title="Captura de pantalla 2026-05-05 203112.png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8849" y="1584950"/>
            <a:ext cx="10194324" cy="5213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>
          <a:extLst>
            <a:ext uri="{FF2B5EF4-FFF2-40B4-BE49-F238E27FC236}">
              <a16:creationId xmlns:a16="http://schemas.microsoft.com/office/drawing/2014/main" id="{F44BDCC3-56CA-19A5-44F1-831BBAF0C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>
            <a:extLst>
              <a:ext uri="{FF2B5EF4-FFF2-40B4-BE49-F238E27FC236}">
                <a16:creationId xmlns:a16="http://schemas.microsoft.com/office/drawing/2014/main" id="{77294CE7-F7E5-5CEF-2ADA-F7C193F1C4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sz="4000" dirty="0">
                <a:solidFill>
                  <a:schemeClr val="lt1"/>
                </a:solidFill>
                <a:latin typeface="Work Sans Medium"/>
                <a:sym typeface="Work Sans Medium"/>
              </a:rPr>
              <a:t>Sistema Control de Versiones</a:t>
            </a:r>
            <a:endParaRPr sz="4000" dirty="0"/>
          </a:p>
        </p:txBody>
      </p:sp>
      <p:pic>
        <p:nvPicPr>
          <p:cNvPr id="212" name="Google Shape;212;p14" title="459247893_524944660220797_6193386177086351401_n.jpg">
            <a:extLst>
              <a:ext uri="{FF2B5EF4-FFF2-40B4-BE49-F238E27FC236}">
                <a16:creationId xmlns:a16="http://schemas.microsoft.com/office/drawing/2014/main" id="{4E75C3DC-2405-DCD1-D3FB-35E9CFC9BB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971" r="971"/>
          <a:stretch/>
        </p:blipFill>
        <p:spPr>
          <a:xfrm>
            <a:off x="9724025" y="327250"/>
            <a:ext cx="1053550" cy="10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13;p14" title="Logo empresa.png">
            <a:extLst>
              <a:ext uri="{FF2B5EF4-FFF2-40B4-BE49-F238E27FC236}">
                <a16:creationId xmlns:a16="http://schemas.microsoft.com/office/drawing/2014/main" id="{874F004A-815F-DC58-2C68-3CD8C27A621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2821" b="2821"/>
          <a:stretch/>
        </p:blipFill>
        <p:spPr>
          <a:xfrm>
            <a:off x="8644025" y="327262"/>
            <a:ext cx="1080000" cy="10081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03;p12">
            <a:extLst>
              <a:ext uri="{FF2B5EF4-FFF2-40B4-BE49-F238E27FC236}">
                <a16:creationId xmlns:a16="http://schemas.microsoft.com/office/drawing/2014/main" id="{12A2EFE6-4EA4-636E-1DAA-AC266D14DE00}"/>
              </a:ext>
            </a:extLst>
          </p:cNvPr>
          <p:cNvSpPr txBox="1"/>
          <p:nvPr/>
        </p:nvSpPr>
        <p:spPr>
          <a:xfrm>
            <a:off x="294222" y="2576042"/>
            <a:ext cx="7335600" cy="321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proyecto SCAR utiliza GitHub como sistema de control de versiones, permitiendo administrar los cambios realizados en el desarrollo, mantener un historial de modificaciones y facilitar el trabajo colaborativo del equipo.</a:t>
            </a:r>
            <a:endParaRPr sz="28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1" name="Imagen 10">
            <a:hlinkClick r:id="rId5"/>
            <a:extLst>
              <a:ext uri="{FF2B5EF4-FFF2-40B4-BE49-F238E27FC236}">
                <a16:creationId xmlns:a16="http://schemas.microsoft.com/office/drawing/2014/main" id="{21B51BD7-BB37-A3EA-1960-F49AC6CBF06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743" t="20337" r="62933" b="23138"/>
          <a:stretch>
            <a:fillRect/>
          </a:stretch>
        </p:blipFill>
        <p:spPr>
          <a:xfrm>
            <a:off x="7532914" y="1819348"/>
            <a:ext cx="4364864" cy="473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630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15" descr="Imagen que contiene Interfaz de usuario gráfi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718</Words>
  <Application>Microsoft Office PowerPoint</Application>
  <PresentationFormat>Panorámica</PresentationFormat>
  <Paragraphs>60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Calibri</vt:lpstr>
      <vt:lpstr>Work Sans Light</vt:lpstr>
      <vt:lpstr>Work Sans Medium</vt:lpstr>
      <vt:lpstr>Work Sans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Problema</vt:lpstr>
      <vt:lpstr>Problema</vt:lpstr>
      <vt:lpstr>Presentación de PowerPoint</vt:lpstr>
      <vt:lpstr>Justificación</vt:lpstr>
      <vt:lpstr>Justificación</vt:lpstr>
      <vt:lpstr>Alcance</vt:lpstr>
      <vt:lpstr>Alcance</vt:lpstr>
      <vt:lpstr>Delimitación</vt:lpstr>
      <vt:lpstr>Delimitación</vt:lpstr>
      <vt:lpstr>Sistema Control de Versiones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Jorge Enrique Pedraza Sanchez</dc:creator>
  <cp:lastModifiedBy>MAFE DELO</cp:lastModifiedBy>
  <cp:revision>17</cp:revision>
  <dcterms:created xsi:type="dcterms:W3CDTF">2020-10-01T23:51:28Z</dcterms:created>
  <dcterms:modified xsi:type="dcterms:W3CDTF">2026-06-26T21:09:55Z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